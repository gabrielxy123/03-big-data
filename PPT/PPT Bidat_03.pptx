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nJ0o7y+isYgvbLDXsNgTKnVCK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0F0832-05F6-4D0D-98B0-A1B4EEDA92BD}">
  <a:tblStyle styleId="{B80F0832-05F6-4D0D-98B0-A1B4EEDA92B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59c0b5cc1_0_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g3e59c0b5cc1_0_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e59c0b5cc1_0_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7" name="Google Shape;28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8" name="Google Shape;31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3" name="Google Shape;35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2" name="Google Shape;392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4" name="Google Shape;424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A5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122D55"/>
          </a:solidFill>
          <a:ln cap="flat" cmpd="sng" w="12700">
            <a:solidFill>
              <a:srgbClr val="122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7498080" y="2926080"/>
            <a:ext cx="2011680" cy="2011680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C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EA5C9"/>
                </a:solidFill>
                <a:latin typeface="Calibri"/>
                <a:ea typeface="Calibri"/>
                <a:cs typeface="Calibri"/>
                <a:sym typeface="Calibri"/>
              </a:rPr>
              <a:t>KELOMPOK 3 · BIG DATA ANALYTICS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548640" y="100584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Trebuchet MS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Big </a:t>
            </a:r>
            <a:r>
              <a:rPr b="1" i="0" lang="en-US" sz="4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Data </a:t>
            </a:r>
            <a:r>
              <a:rPr b="1" i="0" lang="en-US" sz="4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Pipeline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48640" y="192024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22D3EE"/>
                </a:solidFill>
                <a:latin typeface="Trebuchet MS"/>
                <a:ea typeface="Trebuchet MS"/>
                <a:cs typeface="Trebuchet MS"/>
                <a:sym typeface="Trebuchet MS"/>
              </a:rPr>
              <a:t>Amazon Sale Report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48640" y="2834640"/>
            <a:ext cx="4114800" cy="36576"/>
          </a:xfrm>
          <a:prstGeom prst="rect">
            <a:avLst/>
          </a:prstGeom>
          <a:solidFill>
            <a:srgbClr val="6B8BB5"/>
          </a:solidFill>
          <a:ln cap="flat" cmpd="sng" w="12700">
            <a:solidFill>
              <a:srgbClr val="6B8B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548640" y="2999232"/>
            <a:ext cx="1828800" cy="384048"/>
          </a:xfrm>
          <a:prstGeom prst="roundRect">
            <a:avLst>
              <a:gd fmla="val 11905" name="adj"/>
            </a:avLst>
          </a:prstGeom>
          <a:solidFill>
            <a:srgbClr val="122D55"/>
          </a:solidFill>
          <a:ln cap="flat" cmpd="sng" w="12700">
            <a:solidFill>
              <a:srgbClr val="0EA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548640" y="2999232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PySpark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2514600" y="2999232"/>
            <a:ext cx="1828800" cy="384048"/>
          </a:xfrm>
          <a:prstGeom prst="roundRect">
            <a:avLst>
              <a:gd fmla="val 11905" name="adj"/>
            </a:avLst>
          </a:prstGeom>
          <a:solidFill>
            <a:srgbClr val="122D55"/>
          </a:solidFill>
          <a:ln cap="flat" cmpd="sng" w="12700">
            <a:solidFill>
              <a:srgbClr val="0EA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2514600" y="2999232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MySQL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480560" y="2999232"/>
            <a:ext cx="1828800" cy="384048"/>
          </a:xfrm>
          <a:prstGeom prst="roundRect">
            <a:avLst>
              <a:gd fmla="val 11905" name="adj"/>
            </a:avLst>
          </a:prstGeom>
          <a:solidFill>
            <a:srgbClr val="122D55"/>
          </a:solidFill>
          <a:ln cap="flat" cmpd="sng" w="12700">
            <a:solidFill>
              <a:srgbClr val="0EA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4480560" y="2999232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MongoDB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446520" y="2999232"/>
            <a:ext cx="1828800" cy="384048"/>
          </a:xfrm>
          <a:prstGeom prst="roundRect">
            <a:avLst>
              <a:gd fmla="val 11905" name="adj"/>
            </a:avLst>
          </a:prstGeom>
          <a:solidFill>
            <a:srgbClr val="122D55"/>
          </a:solidFill>
          <a:ln cap="flat" cmpd="sng" w="12700">
            <a:solidFill>
              <a:srgbClr val="0EA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6446520" y="2999232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Streamlit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48640" y="384048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BBF24"/>
                </a:solidFill>
                <a:latin typeface="Trebuchet MS"/>
                <a:ea typeface="Trebuchet MS"/>
                <a:cs typeface="Trebuchet MS"/>
                <a:sym typeface="Trebuchet MS"/>
              </a:rPr>
              <a:t>~128K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48640" y="43708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Baris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2651760" y="384048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BBF24"/>
                </a:solidFill>
                <a:latin typeface="Trebuchet MS"/>
                <a:ea typeface="Trebuchet MS"/>
                <a:cs typeface="Trebuchet MS"/>
                <a:sym typeface="Trebuchet MS"/>
              </a:rPr>
              <a:t>9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2651760" y="43708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SQL Queries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4754880" y="384048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BBF24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4754880" y="43708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6858000" y="384048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BBF24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6858000" y="43708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590540" y="25743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lang="en-US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Anggota Kelompok 03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90550" y="758175"/>
            <a:ext cx="5759700" cy="69300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889272" y="912725"/>
            <a:ext cx="5165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11423012		Esticka Priscila Sibarani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90550" y="1638650"/>
            <a:ext cx="5759700" cy="69300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889272" y="1793200"/>
            <a:ext cx="5165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11423017		Anisetus Bambang Manalu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90550" y="2506250"/>
            <a:ext cx="5759700" cy="69300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889272" y="2660775"/>
            <a:ext cx="5165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11423022		Wahyudi G. Lumbantoruan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90548" y="3414600"/>
            <a:ext cx="5759700" cy="69300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889272" y="3569150"/>
            <a:ext cx="5165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11423036		Gabriel Dominggo A. Siregar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90550" y="4297200"/>
            <a:ext cx="5759700" cy="69300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889272" y="4451750"/>
            <a:ext cx="5165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11423039		Nicolas Prasetia H.  Batubara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59c0b5cc1_0_3"/>
          <p:cNvSpPr/>
          <p:nvPr/>
        </p:nvSpPr>
        <p:spPr>
          <a:xfrm>
            <a:off x="0" y="0"/>
            <a:ext cx="320100" cy="514350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e59c0b5cc1_0_3"/>
          <p:cNvSpPr/>
          <p:nvPr/>
        </p:nvSpPr>
        <p:spPr>
          <a:xfrm>
            <a:off x="548640" y="32004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AGENDA PRESENTASI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3e59c0b5cc1_0_3"/>
          <p:cNvSpPr/>
          <p:nvPr/>
        </p:nvSpPr>
        <p:spPr>
          <a:xfrm>
            <a:off x="548640" y="68580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lang="en-US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Struktur Pembahasan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3e59c0b5cc1_0_3"/>
          <p:cNvSpPr/>
          <p:nvPr/>
        </p:nvSpPr>
        <p:spPr>
          <a:xfrm>
            <a:off x="548640" y="1508760"/>
            <a:ext cx="4023300" cy="96000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g3e59c0b5cc1_0_3"/>
          <p:cNvSpPr/>
          <p:nvPr/>
        </p:nvSpPr>
        <p:spPr>
          <a:xfrm>
            <a:off x="685800" y="1618488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C9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0EA5C9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e59c0b5cc1_0_3"/>
          <p:cNvSpPr/>
          <p:nvPr/>
        </p:nvSpPr>
        <p:spPr>
          <a:xfrm>
            <a:off x="1143000" y="1600200"/>
            <a:ext cx="3291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Latar Belakang &amp; Tujuan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e59c0b5cc1_0_3"/>
          <p:cNvSpPr/>
          <p:nvPr/>
        </p:nvSpPr>
        <p:spPr>
          <a:xfrm>
            <a:off x="1143000" y="1984248"/>
            <a:ext cx="3291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Motivasi dan rumusan masalah proyek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g3e59c0b5cc1_0_3"/>
          <p:cNvSpPr/>
          <p:nvPr/>
        </p:nvSpPr>
        <p:spPr>
          <a:xfrm>
            <a:off x="548640" y="2606040"/>
            <a:ext cx="4023300" cy="96000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e59c0b5cc1_0_3"/>
          <p:cNvSpPr/>
          <p:nvPr/>
        </p:nvSpPr>
        <p:spPr>
          <a:xfrm>
            <a:off x="685800" y="2715768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C9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0EA5C9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g3e59c0b5cc1_0_3"/>
          <p:cNvSpPr/>
          <p:nvPr/>
        </p:nvSpPr>
        <p:spPr>
          <a:xfrm>
            <a:off x="1143000" y="2697480"/>
            <a:ext cx="3291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Dataset &amp; Arsitektur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3e59c0b5cc1_0_3"/>
          <p:cNvSpPr/>
          <p:nvPr/>
        </p:nvSpPr>
        <p:spPr>
          <a:xfrm>
            <a:off x="1143000" y="3081528"/>
            <a:ext cx="3291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Amazon Sale Report 128.976K baris, stack teknologi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3e59c0b5cc1_0_3"/>
          <p:cNvSpPr/>
          <p:nvPr/>
        </p:nvSpPr>
        <p:spPr>
          <a:xfrm>
            <a:off x="548640" y="3703320"/>
            <a:ext cx="4023300" cy="96000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3e59c0b5cc1_0_3"/>
          <p:cNvSpPr/>
          <p:nvPr/>
        </p:nvSpPr>
        <p:spPr>
          <a:xfrm>
            <a:off x="685800" y="3813048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C9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0EA5C9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g3e59c0b5cc1_0_3"/>
          <p:cNvSpPr/>
          <p:nvPr/>
        </p:nvSpPr>
        <p:spPr>
          <a:xfrm>
            <a:off x="1143000" y="3794760"/>
            <a:ext cx="3291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Pipeline Implementation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g3e59c0b5cc1_0_3"/>
          <p:cNvSpPr/>
          <p:nvPr/>
        </p:nvSpPr>
        <p:spPr>
          <a:xfrm>
            <a:off x="1143000" y="4178808"/>
            <a:ext cx="3291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Ingestion → Cleaning → Processing → Storage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3e59c0b5cc1_0_3"/>
          <p:cNvSpPr/>
          <p:nvPr/>
        </p:nvSpPr>
        <p:spPr>
          <a:xfrm>
            <a:off x="4800600" y="1508760"/>
            <a:ext cx="4023300" cy="96000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e59c0b5cc1_0_3"/>
          <p:cNvSpPr/>
          <p:nvPr/>
        </p:nvSpPr>
        <p:spPr>
          <a:xfrm>
            <a:off x="4937760" y="1618488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C9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0EA5C9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g3e59c0b5cc1_0_3"/>
          <p:cNvSpPr/>
          <p:nvPr/>
        </p:nvSpPr>
        <p:spPr>
          <a:xfrm>
            <a:off x="5394960" y="1600200"/>
            <a:ext cx="3291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Analisis &amp; Insight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g3e59c0b5cc1_0_3"/>
          <p:cNvSpPr/>
          <p:nvPr/>
        </p:nvSpPr>
        <p:spPr>
          <a:xfrm>
            <a:off x="5394960" y="1984248"/>
            <a:ext cx="3291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9 Query Spark SQL, EDA, temuan bisnis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g3e59c0b5cc1_0_3"/>
          <p:cNvSpPr/>
          <p:nvPr/>
        </p:nvSpPr>
        <p:spPr>
          <a:xfrm>
            <a:off x="4800600" y="2606040"/>
            <a:ext cx="4023300" cy="96000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e59c0b5cc1_0_3"/>
          <p:cNvSpPr/>
          <p:nvPr/>
        </p:nvSpPr>
        <p:spPr>
          <a:xfrm>
            <a:off x="4937760" y="2715768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C9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0EA5C9"/>
                </a:solidFill>
                <a:latin typeface="Trebuchet MS"/>
                <a:ea typeface="Trebuchet MS"/>
                <a:cs typeface="Trebuchet MS"/>
                <a:sym typeface="Trebuchet MS"/>
              </a:rPr>
              <a:t>05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3e59c0b5cc1_0_3"/>
          <p:cNvSpPr/>
          <p:nvPr/>
        </p:nvSpPr>
        <p:spPr>
          <a:xfrm>
            <a:off x="5394960" y="2697480"/>
            <a:ext cx="3291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Integrasi &amp; Dashboard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e59c0b5cc1_0_3"/>
          <p:cNvSpPr/>
          <p:nvPr/>
        </p:nvSpPr>
        <p:spPr>
          <a:xfrm>
            <a:off x="5394960" y="3081528"/>
            <a:ext cx="3291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Cross-system JOIN MySQL×MongoDB, Streamlit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g3e59c0b5cc1_0_3"/>
          <p:cNvSpPr/>
          <p:nvPr/>
        </p:nvSpPr>
        <p:spPr>
          <a:xfrm>
            <a:off x="4800600" y="3703320"/>
            <a:ext cx="4023300" cy="96000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e59c0b5cc1_0_3"/>
          <p:cNvSpPr/>
          <p:nvPr/>
        </p:nvSpPr>
        <p:spPr>
          <a:xfrm>
            <a:off x="4937760" y="3813048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C9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0EA5C9"/>
                </a:solidFill>
                <a:latin typeface="Trebuchet MS"/>
                <a:ea typeface="Trebuchet MS"/>
                <a:cs typeface="Trebuchet MS"/>
                <a:sym typeface="Trebuchet MS"/>
              </a:rPr>
              <a:t>06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3e59c0b5cc1_0_3"/>
          <p:cNvSpPr/>
          <p:nvPr/>
        </p:nvSpPr>
        <p:spPr>
          <a:xfrm>
            <a:off x="5394960" y="3794760"/>
            <a:ext cx="3291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Kesimpulan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g3e59c0b5cc1_0_3"/>
          <p:cNvSpPr/>
          <p:nvPr/>
        </p:nvSpPr>
        <p:spPr>
          <a:xfrm>
            <a:off x="5394960" y="4178808"/>
            <a:ext cx="3291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Hasil akhir dan pembelajaran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01 · LATAR BELAKANG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548640" y="6217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Mengapa proyek ini penting?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548640" y="1417320"/>
            <a:ext cx="4023360" cy="146304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548640" y="1417320"/>
            <a:ext cx="73152" cy="1463040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731520" y="1527048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FBBF24"/>
                </a:solidFill>
                <a:latin typeface="Trebuchet MS"/>
                <a:ea typeface="Trebuchet MS"/>
                <a:cs typeface="Trebuchet MS"/>
                <a:sym typeface="Trebuchet MS"/>
              </a:rPr>
              <a:t>Volume Data Masif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731520" y="1892808"/>
            <a:ext cx="3749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BF7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Amazon menghasilkan jutaan transaksi harian. Dataset 128.976K baris, 25MB perlu pemrosesan terdistribusi.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4800600" y="1417320"/>
            <a:ext cx="4023360" cy="146304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4800600" y="1417320"/>
            <a:ext cx="73152" cy="1463040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4983480" y="1527048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FBBF24"/>
                </a:solidFill>
                <a:latin typeface="Trebuchet MS"/>
                <a:ea typeface="Trebuchet MS"/>
                <a:cs typeface="Trebuchet MS"/>
                <a:sym typeface="Trebuchet MS"/>
              </a:rPr>
              <a:t>Multi-Source Storage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4983480" y="1892808"/>
            <a:ext cx="3749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BF7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Data e-commerce memiliki bentuk terstruktur (tabular) dan semi-terstruktur (nested, array) yang perlu pendekatan berbeda.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548640" y="3017520"/>
            <a:ext cx="4023360" cy="146304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548640" y="3017520"/>
            <a:ext cx="73152" cy="1463040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731520" y="3127248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FBBF24"/>
                </a:solidFill>
                <a:latin typeface="Trebuchet MS"/>
                <a:ea typeface="Trebuchet MS"/>
                <a:cs typeface="Trebuchet MS"/>
                <a:sym typeface="Trebuchet MS"/>
              </a:rPr>
              <a:t>Kebutuhan Analitik Real-time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731520" y="3493008"/>
            <a:ext cx="3749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BF7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Bisnis membutuhkan insight cepat: tren penjualan, kategori terlaris, konversi order, segmentasi pelanggan.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4800600" y="3017520"/>
            <a:ext cx="4023360" cy="146304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4800600" y="3017520"/>
            <a:ext cx="73152" cy="1463040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4983480" y="3127248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FBBF24"/>
                </a:solidFill>
                <a:latin typeface="Trebuchet MS"/>
                <a:ea typeface="Trebuchet MS"/>
                <a:cs typeface="Trebuchet MS"/>
                <a:sym typeface="Trebuchet MS"/>
              </a:rPr>
              <a:t>Gap Teknologi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4983480" y="3493008"/>
            <a:ext cx="3749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BF7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Tools konvensional (Excel, SQL biasa) tidak mampu menangani skala dan heterogenitas data e-commerce modern.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A5C9"/>
          </a:solidFill>
          <a:ln cap="flat" cmpd="sng" w="12700">
            <a:solidFill>
              <a:srgbClr val="0EA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C9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EA5C9"/>
                </a:solidFill>
                <a:latin typeface="Calibri"/>
                <a:ea typeface="Calibri"/>
                <a:cs typeface="Calibri"/>
                <a:sym typeface="Calibri"/>
              </a:rPr>
              <a:t>02 · DATASET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548640" y="6217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Amazon Sale Report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548640" y="1325880"/>
            <a:ext cx="2011680" cy="100584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0EA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548640" y="137160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00"/>
              <a:buFont typeface="Trebuchet MS"/>
              <a:buNone/>
            </a:pPr>
            <a:r>
              <a:rPr b="1" lang="en-US" sz="2200">
                <a:solidFill>
                  <a:srgbClr val="22D3EE"/>
                </a:solidFill>
                <a:latin typeface="Trebuchet MS"/>
                <a:ea typeface="Trebuchet MS"/>
                <a:cs typeface="Trebuchet MS"/>
                <a:sym typeface="Trebuchet MS"/>
              </a:rPr>
              <a:t>128,976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48640" y="18745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Total Baris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2697480" y="1325880"/>
            <a:ext cx="2011680" cy="100584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0EA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2697480" y="137160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00"/>
              <a:buFont typeface="Trebuchet MS"/>
              <a:buNone/>
            </a:pPr>
            <a:r>
              <a:rPr b="1" lang="en-US" sz="2200">
                <a:solidFill>
                  <a:srgbClr val="22D3EE"/>
                </a:solidFill>
                <a:latin typeface="Trebuchet MS"/>
                <a:ea typeface="Trebuchet MS"/>
                <a:cs typeface="Trebuchet MS"/>
                <a:sym typeface="Trebuchet MS"/>
              </a:rPr>
              <a:t>24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2697480" y="18745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Kolom Asli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4846320" y="1325880"/>
            <a:ext cx="2011680" cy="100584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0EA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4846320" y="137160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00"/>
              <a:buFont typeface="Trebuchet MS"/>
              <a:buNone/>
            </a:pPr>
            <a:r>
              <a:rPr b="1" lang="en-US" sz="2200">
                <a:solidFill>
                  <a:srgbClr val="22D3EE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4846320" y="18745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Kolom Derived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995160" y="1325880"/>
            <a:ext cx="2011680" cy="100584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0EA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6995160" y="137160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00"/>
              <a:buFont typeface="Trebuchet MS"/>
              <a:buNone/>
            </a:pPr>
            <a:r>
              <a:rPr b="1" lang="en-US" sz="2200">
                <a:solidFill>
                  <a:srgbClr val="22D3EE"/>
                </a:solidFill>
                <a:latin typeface="Trebuchet MS"/>
                <a:ea typeface="Trebuchet MS"/>
                <a:cs typeface="Trebuchet MS"/>
                <a:sym typeface="Trebuchet MS"/>
              </a:rPr>
              <a:t>~25 MB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6995160" y="18745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Ukuran File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548640" y="251460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C9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0EA5C9"/>
                </a:solidFill>
                <a:latin typeface="Trebuchet MS"/>
                <a:ea typeface="Trebuchet MS"/>
                <a:cs typeface="Trebuchet MS"/>
                <a:sym typeface="Trebuchet MS"/>
              </a:rPr>
              <a:t>Kolom Kunci Dataset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548640" y="2880360"/>
            <a:ext cx="41148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BF7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order_id — ID unik setiap transaksi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BF7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date — Tanggal order (MM-dd-yy)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BF7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category — Kategori produk (Set, Kurta, dll)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BF7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amount — Harga satuan dalam INR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BF7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status — Status order detail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BF7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ship_state — Negara bagian tujuan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BF7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b2b — Flag Business-to-Business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BF7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promotion_ids — ID promosi (array di MongoDB)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4892040" y="251460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34D399"/>
                </a:solidFill>
                <a:latin typeface="Trebuchet MS"/>
                <a:ea typeface="Trebuchet MS"/>
                <a:cs typeface="Trebuchet MS"/>
                <a:sym typeface="Trebuchet MS"/>
              </a:rPr>
              <a:t>Kolom Derived (Feature Engineering)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4892040" y="2880360"/>
            <a:ext cx="39319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BF7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year / month / month_name — Dari date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BF7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status_group — Shipped/Cancelled/Pending/Other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BF7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revenue — qty × amount (dibulatkan 2 desimal)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BF7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has_promotion — Boolean flag promosi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4892040" y="4297680"/>
            <a:ext cx="3931920" cy="640080"/>
          </a:xfrm>
          <a:prstGeom prst="rect">
            <a:avLst/>
          </a:prstGeom>
          <a:solidFill>
            <a:srgbClr val="1A0A00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4983480" y="434340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❌ Di-drop: row_index, unused_col, style (tidak bermakna)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02 · ARSITEKTUR SISTEM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548640" y="56692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lang="en-US" sz="2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End-to-End Big Data Pipeline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502920" y="1325880"/>
            <a:ext cx="1325880" cy="128016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0EA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502920" y="1325880"/>
            <a:ext cx="1325880" cy="164592"/>
          </a:xfrm>
          <a:prstGeom prst="rect">
            <a:avLst/>
          </a:prstGeom>
          <a:solidFill>
            <a:srgbClr val="0EA5C9"/>
          </a:solidFill>
          <a:ln cap="flat" cmpd="sng" w="12700">
            <a:solidFill>
              <a:srgbClr val="0EA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502920" y="1508760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C9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0EA5C9"/>
                </a:solidFill>
                <a:latin typeface="Trebuchet MS"/>
                <a:ea typeface="Trebuchet MS"/>
                <a:cs typeface="Trebuchet MS"/>
                <a:sym typeface="Trebuchet MS"/>
              </a:rPr>
              <a:t>CSV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C9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0EA5C9"/>
                </a:solidFill>
                <a:latin typeface="Trebuchet MS"/>
                <a:ea typeface="Trebuchet MS"/>
                <a:cs typeface="Trebuchet MS"/>
                <a:sym typeface="Trebuchet MS"/>
              </a:rPr>
              <a:t>Ingestion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502920" y="2148840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PySpark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Schema Eksplisit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1828800" y="1920240"/>
            <a:ext cx="118872" cy="36576"/>
          </a:xfrm>
          <a:prstGeom prst="rect">
            <a:avLst/>
          </a:prstGeom>
          <a:solidFill>
            <a:srgbClr val="6B8BB5"/>
          </a:solidFill>
          <a:ln cap="flat" cmpd="sng" w="12700">
            <a:solidFill>
              <a:srgbClr val="6B8B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1901952" y="1828800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1965960" y="1325880"/>
            <a:ext cx="1325880" cy="128016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1965960" y="1325880"/>
            <a:ext cx="1325880" cy="164592"/>
          </a:xfrm>
          <a:prstGeom prst="rect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1965960" y="1508760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22D3EE"/>
                </a:solidFill>
                <a:latin typeface="Trebuchet MS"/>
                <a:ea typeface="Trebuchet MS"/>
                <a:cs typeface="Trebuchet MS"/>
                <a:sym typeface="Trebuchet MS"/>
              </a:rPr>
              <a:t>Cleaning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22D3EE"/>
                </a:solidFill>
                <a:latin typeface="Trebuchet MS"/>
                <a:ea typeface="Trebuchet MS"/>
                <a:cs typeface="Trebuchet MS"/>
                <a:sym typeface="Trebuchet MS"/>
              </a:rPr>
              <a:t>&amp; FE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1965960" y="2148840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PySpark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Transformasi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3291840" y="1920240"/>
            <a:ext cx="118872" cy="36576"/>
          </a:xfrm>
          <a:prstGeom prst="rect">
            <a:avLst/>
          </a:prstGeom>
          <a:solidFill>
            <a:srgbClr val="6B8BB5"/>
          </a:solidFill>
          <a:ln cap="flat" cmpd="sng" w="12700">
            <a:solidFill>
              <a:srgbClr val="6B8B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3364992" y="1828800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3429000" y="1325880"/>
            <a:ext cx="1325880" cy="128016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3429000" y="1325880"/>
            <a:ext cx="1325880" cy="164592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3429000" y="1508760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34D399"/>
                </a:solidFill>
                <a:latin typeface="Trebuchet MS"/>
                <a:ea typeface="Trebuchet MS"/>
                <a:cs typeface="Trebuchet MS"/>
                <a:sym typeface="Trebuchet MS"/>
              </a:rPr>
              <a:t>Processing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34D399"/>
                </a:solidFill>
                <a:latin typeface="Trebuchet MS"/>
                <a:ea typeface="Trebuchet MS"/>
                <a:cs typeface="Trebuchet MS"/>
                <a:sym typeface="Trebuchet MS"/>
              </a:rPr>
              <a:t>&amp; SQL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3429000" y="2148840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Spark SQL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9 Queries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4754880" y="1920240"/>
            <a:ext cx="118872" cy="36576"/>
          </a:xfrm>
          <a:prstGeom prst="rect">
            <a:avLst/>
          </a:prstGeom>
          <a:solidFill>
            <a:srgbClr val="6B8BB5"/>
          </a:solidFill>
          <a:ln cap="flat" cmpd="sng" w="12700">
            <a:solidFill>
              <a:srgbClr val="6B8B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4828032" y="1828800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4892040" y="1325880"/>
            <a:ext cx="1325880" cy="128016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4892040" y="1325880"/>
            <a:ext cx="1325880" cy="164592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4892040" y="1508760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BBF24"/>
                </a:solidFill>
                <a:latin typeface="Trebuchet MS"/>
                <a:ea typeface="Trebuchet MS"/>
                <a:cs typeface="Trebuchet MS"/>
                <a:sym typeface="Trebuchet MS"/>
              </a:rPr>
              <a:t>Storage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BBF24"/>
                </a:solidFill>
                <a:latin typeface="Trebuchet MS"/>
                <a:ea typeface="Trebuchet MS"/>
                <a:cs typeface="Trebuchet MS"/>
                <a:sym typeface="Trebuchet MS"/>
              </a:rPr>
              <a:t>MySQL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4892040" y="2148840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final_bidat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3 Tabel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6217920" y="1920240"/>
            <a:ext cx="118872" cy="36576"/>
          </a:xfrm>
          <a:prstGeom prst="rect">
            <a:avLst/>
          </a:prstGeom>
          <a:solidFill>
            <a:srgbClr val="6B8BB5"/>
          </a:solidFill>
          <a:ln cap="flat" cmpd="sng" w="12700">
            <a:solidFill>
              <a:srgbClr val="6B8B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6291072" y="1828800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6355080" y="1325880"/>
            <a:ext cx="1325880" cy="128016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6355080" y="1325880"/>
            <a:ext cx="1325880" cy="164592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6355080" y="1508760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87171"/>
                </a:solidFill>
                <a:latin typeface="Trebuchet MS"/>
                <a:ea typeface="Trebuchet MS"/>
                <a:cs typeface="Trebuchet MS"/>
                <a:sym typeface="Trebuchet MS"/>
              </a:rPr>
              <a:t>Storage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87171"/>
                </a:solidFill>
                <a:latin typeface="Trebuchet MS"/>
                <a:ea typeface="Trebuchet MS"/>
                <a:cs typeface="Trebuchet MS"/>
                <a:sym typeface="Trebuchet MS"/>
              </a:rPr>
              <a:t>MongoDB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6355080" y="2148840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final_bidat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2 Koleksi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7680960" y="1920240"/>
            <a:ext cx="118872" cy="36576"/>
          </a:xfrm>
          <a:prstGeom prst="rect">
            <a:avLst/>
          </a:prstGeom>
          <a:solidFill>
            <a:srgbClr val="6B8BB5"/>
          </a:solidFill>
          <a:ln cap="flat" cmpd="sng" w="12700">
            <a:solidFill>
              <a:srgbClr val="6B8B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7754112" y="1828800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7818120" y="1325880"/>
            <a:ext cx="1325880" cy="128016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C084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7818120" y="1325880"/>
            <a:ext cx="1325880" cy="164592"/>
          </a:xfrm>
          <a:prstGeom prst="rect">
            <a:avLst/>
          </a:prstGeom>
          <a:solidFill>
            <a:srgbClr val="C084FC"/>
          </a:solidFill>
          <a:ln cap="flat" cmpd="sng" w="12700">
            <a:solidFill>
              <a:srgbClr val="C084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7818120" y="1508760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C084FC"/>
                </a:solidFill>
                <a:latin typeface="Trebuchet MS"/>
                <a:ea typeface="Trebuchet MS"/>
                <a:cs typeface="Trebuchet MS"/>
                <a:sym typeface="Trebuchet MS"/>
              </a:rPr>
              <a:t>Dashboard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C084FC"/>
                </a:solidFill>
                <a:latin typeface="Trebuchet MS"/>
                <a:ea typeface="Trebuchet MS"/>
                <a:cs typeface="Trebuchet MS"/>
                <a:sym typeface="Trebuchet MS"/>
              </a:rPr>
              <a:t>Streamlit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7818120" y="2148840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Plotly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Interaktif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548640" y="29260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C9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0EA5C9"/>
                </a:solidFill>
                <a:latin typeface="Trebuchet MS"/>
                <a:ea typeface="Trebuchet MS"/>
                <a:cs typeface="Trebuchet MS"/>
                <a:sym typeface="Trebuchet MS"/>
              </a:rPr>
              <a:t>Konfigurasi SparkSession (Windows-optimized)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548640" y="3337560"/>
            <a:ext cx="2743200" cy="530352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658368" y="3374136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master: local[2]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658368" y="3611880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2 core, cegah crash worker di Windows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3429000" y="3337560"/>
            <a:ext cx="2743200" cy="530352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3538728" y="3374136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driver/executor memory: 2g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3538728" y="3611880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Alokasi seimbang untuk stabilitas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6309360" y="3337560"/>
            <a:ext cx="2743200" cy="530352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6419088" y="3374136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shuffle.partitions: 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6419088" y="3611880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Kurangi parallel task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548640" y="3959352"/>
            <a:ext cx="2743200" cy="530352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658368" y="399592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Arrow disabled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658368" y="4233672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Cegah crash Python worker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3429000" y="3959352"/>
            <a:ext cx="2743200" cy="530352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3538728" y="399592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faulthandler: true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3538728" y="4233672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Tangkap error worker lebih stabil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6309360" y="3959352"/>
            <a:ext cx="2743200" cy="530352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6419088" y="399592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checkpoint dir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6419088" y="4233672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Ketahanan pipeline mid-run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03 · DATA CLEANING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548640" y="56692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lang="en-US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Penanganan Missing Values &amp; Feature Engineering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3" name="Google Shape;203;p6"/>
          <p:cNvGraphicFramePr/>
          <p:nvPr/>
        </p:nvGraphicFramePr>
        <p:xfrm>
          <a:off x="548640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{B80F0832-05F6-4D0D-98B0-A1B4EEDA92BD}</a:tableStyleId>
              </a:tblPr>
              <a:tblGrid>
                <a:gridCol w="1554475"/>
                <a:gridCol w="1188725"/>
                <a:gridCol w="1188725"/>
              </a:tblGrid>
              <a:tr h="37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Kolom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D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 Count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D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Solusi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D55"/>
                    </a:solidFill>
                  </a:tcPr>
                </a:tc>
              </a:tr>
              <a:tr h="37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BF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E2EB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courier_status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F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BF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E2EB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6.872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F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D399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4D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Fill → 'Unknown'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F38"/>
                    </a:solidFill>
                  </a:tcPr>
                </a:tc>
              </a:tr>
              <a:tr h="37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BF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E2EB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fulfilled_by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D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BF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E2EB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89.698 (!)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D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D399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4D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Fill → 'Unknown'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D55"/>
                    </a:solidFill>
                  </a:tcPr>
                </a:tc>
              </a:tr>
              <a:tr h="37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BF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E2EB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promotion_ids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F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BF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E2EB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49.153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F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D399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4D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Fill → 'None'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F38"/>
                    </a:solidFill>
                  </a:tcPr>
                </a:tc>
              </a:tr>
              <a:tr h="37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BF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E2EB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amount / currency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D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BF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E2EB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7.795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D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D399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4D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Drop baris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D55"/>
                    </a:solidFill>
                  </a:tcPr>
                </a:tc>
              </a:tr>
              <a:tr h="37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BF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E2EB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ship_city/state/country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F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BF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E2EB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F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D399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4D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Drop baris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F38"/>
                    </a:solidFill>
                  </a:tcPr>
                </a:tc>
              </a:tr>
              <a:tr h="37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BF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E2EB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sales_channel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D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BF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E2EB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D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D399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4D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Trim whitespace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D55"/>
                    </a:solidFill>
                  </a:tcPr>
                </a:tc>
              </a:tr>
              <a:tr h="37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BF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E2EB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F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BF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E2EB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(post-fix)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F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D399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4D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coalesce multi-format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F38"/>
                    </a:solidFill>
                  </a:tcPr>
                </a:tc>
              </a:tr>
            </a:tbl>
          </a:graphicData>
        </a:graphic>
      </p:graphicFrame>
      <p:sp>
        <p:nvSpPr>
          <p:cNvPr id="204" name="Google Shape;204;p6"/>
          <p:cNvSpPr/>
          <p:nvPr/>
        </p:nvSpPr>
        <p:spPr>
          <a:xfrm>
            <a:off x="4754880" y="123444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34D399"/>
                </a:solidFill>
                <a:latin typeface="Trebuchet MS"/>
                <a:ea typeface="Trebuchet MS"/>
                <a:cs typeface="Trebuchet MS"/>
                <a:sym typeface="Trebuchet MS"/>
              </a:rPr>
              <a:t>Feature Engineering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4754880" y="1645920"/>
            <a:ext cx="4069080" cy="73152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4754880" y="1645920"/>
            <a:ext cx="73152" cy="73152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4919472" y="170078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year / month / month_name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4919472" y="199339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BF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Ekstrak dari DateType — langsung tanpa konversi ulang (coalesce sudah di ingestion)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4754880" y="2468880"/>
            <a:ext cx="4069080" cy="73152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4754880" y="2468880"/>
            <a:ext cx="73152" cy="73152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4919472" y="252374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status_group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4919472" y="281635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BF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Normalisasi: Shipped / Cancelled / Pending / Other via F.when()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4754880" y="3291840"/>
            <a:ext cx="4069080" cy="73152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4754880" y="3291840"/>
            <a:ext cx="73152" cy="73152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4919472" y="334670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revenue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4919472" y="363931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BF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qty × amount, dibulatkan 2 desimal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4754880" y="4114800"/>
            <a:ext cx="4069080" cy="73152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4754880" y="4114800"/>
            <a:ext cx="73152" cy="73152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4919472" y="416966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has_promotion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4919472" y="446227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BF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True jika promotion_ids != 'None'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A5C9"/>
          </a:solidFill>
          <a:ln cap="flat" cmpd="sng" w="12700">
            <a:solidFill>
              <a:srgbClr val="0EA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C9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EA5C9"/>
                </a:solidFill>
                <a:latin typeface="Calibri"/>
                <a:ea typeface="Calibri"/>
                <a:cs typeface="Calibri"/>
                <a:sym typeface="Calibri"/>
              </a:rPr>
              <a:t>04 · ANALISIS — SPARK SQL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548640" y="56692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lang="en-US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9 Query Analitik via Temp View 'amazon_sales'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548640" y="1261872"/>
            <a:ext cx="2743200" cy="109728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548640" y="1261872"/>
            <a:ext cx="502920" cy="1097280"/>
          </a:xfrm>
          <a:prstGeom prst="rect">
            <a:avLst/>
          </a:prstGeom>
          <a:solidFill>
            <a:srgbClr val="0D2545"/>
          </a:solidFill>
          <a:ln cap="flat" cmpd="sng" w="12700">
            <a:solidFill>
              <a:srgbClr val="0D2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548640" y="1261872"/>
            <a:ext cx="502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C9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0EA5C9"/>
                </a:solidFill>
                <a:latin typeface="Trebuchet MS"/>
                <a:ea typeface="Trebuchet MS"/>
                <a:cs typeface="Trebuchet MS"/>
                <a:sym typeface="Trebuchet MS"/>
              </a:rPr>
              <a:t>Q1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1143000" y="1353312"/>
            <a:ext cx="2057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22D3EE"/>
                </a:solidFill>
                <a:latin typeface="Trebuchet MS"/>
                <a:ea typeface="Trebuchet MS"/>
                <a:cs typeface="Trebuchet MS"/>
                <a:sym typeface="Trebuchet MS"/>
              </a:rPr>
              <a:t>Top Kategori × Ukuran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1143000" y="1737360"/>
            <a:ext cx="2057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BF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Kombinasi produk terlaris (Shipped)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3429000" y="1261872"/>
            <a:ext cx="2743200" cy="109728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3429000" y="1261872"/>
            <a:ext cx="502920" cy="1097280"/>
          </a:xfrm>
          <a:prstGeom prst="rect">
            <a:avLst/>
          </a:prstGeom>
          <a:solidFill>
            <a:srgbClr val="0D2545"/>
          </a:solidFill>
          <a:ln cap="flat" cmpd="sng" w="12700">
            <a:solidFill>
              <a:srgbClr val="0D2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3429000" y="1261872"/>
            <a:ext cx="502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C9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0EA5C9"/>
                </a:solidFill>
                <a:latin typeface="Trebuchet MS"/>
                <a:ea typeface="Trebuchet MS"/>
                <a:cs typeface="Trebuchet MS"/>
                <a:sym typeface="Trebuchet MS"/>
              </a:rPr>
              <a:t>Q2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4023360" y="1353312"/>
            <a:ext cx="2057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22D3EE"/>
                </a:solidFill>
                <a:latin typeface="Trebuchet MS"/>
                <a:ea typeface="Trebuchet MS"/>
                <a:cs typeface="Trebuchet MS"/>
                <a:sym typeface="Trebuchet MS"/>
              </a:rPr>
              <a:t>Funnel Konversi Order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4023360" y="1737360"/>
            <a:ext cx="2057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BF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Distribusi status + pct + B2B count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6309360" y="1261872"/>
            <a:ext cx="2743200" cy="109728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6309360" y="1261872"/>
            <a:ext cx="502920" cy="1097280"/>
          </a:xfrm>
          <a:prstGeom prst="rect">
            <a:avLst/>
          </a:prstGeom>
          <a:solidFill>
            <a:srgbClr val="0D2545"/>
          </a:solidFill>
          <a:ln cap="flat" cmpd="sng" w="12700">
            <a:solidFill>
              <a:srgbClr val="0D2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6309360" y="1261872"/>
            <a:ext cx="502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C9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0EA5C9"/>
                </a:solidFill>
                <a:latin typeface="Trebuchet MS"/>
                <a:ea typeface="Trebuchet MS"/>
                <a:cs typeface="Trebuchet MS"/>
                <a:sym typeface="Trebuchet MS"/>
              </a:rPr>
              <a:t>Q3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6903720" y="1353312"/>
            <a:ext cx="2057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22D3EE"/>
                </a:solidFill>
                <a:latin typeface="Trebuchet MS"/>
                <a:ea typeface="Trebuchet MS"/>
                <a:cs typeface="Trebuchet MS"/>
                <a:sym typeface="Trebuchet MS"/>
              </a:rPr>
              <a:t>Performa Harian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6903720" y="1737360"/>
            <a:ext cx="2057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BF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Top 10 tanggal revenue tertinggi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548640" y="2496312"/>
            <a:ext cx="2743200" cy="109728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548640" y="2496312"/>
            <a:ext cx="502920" cy="1097280"/>
          </a:xfrm>
          <a:prstGeom prst="rect">
            <a:avLst/>
          </a:prstGeom>
          <a:solidFill>
            <a:srgbClr val="0D2545"/>
          </a:solidFill>
          <a:ln cap="flat" cmpd="sng" w="12700">
            <a:solidFill>
              <a:srgbClr val="0D2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548640" y="2496312"/>
            <a:ext cx="502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C9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0EA5C9"/>
                </a:solidFill>
                <a:latin typeface="Trebuchet MS"/>
                <a:ea typeface="Trebuchet MS"/>
                <a:cs typeface="Trebuchet MS"/>
                <a:sym typeface="Trebuchet MS"/>
              </a:rPr>
              <a:t>Q4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1143000" y="2587752"/>
            <a:ext cx="2057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22D3EE"/>
                </a:solidFill>
                <a:latin typeface="Trebuchet MS"/>
                <a:ea typeface="Trebuchet MS"/>
                <a:cs typeface="Trebuchet MS"/>
                <a:sym typeface="Trebuchet MS"/>
              </a:rPr>
              <a:t>Dampak Promosi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1143000" y="2971800"/>
            <a:ext cx="2057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BF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With vs No Promotion — avg harga, qty, revenue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3429000" y="2496312"/>
            <a:ext cx="2743200" cy="109728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3429000" y="2496312"/>
            <a:ext cx="502920" cy="1097280"/>
          </a:xfrm>
          <a:prstGeom prst="rect">
            <a:avLst/>
          </a:prstGeom>
          <a:solidFill>
            <a:srgbClr val="0D2545"/>
          </a:solidFill>
          <a:ln cap="flat" cmpd="sng" w="12700">
            <a:solidFill>
              <a:srgbClr val="0D2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3429000" y="2496312"/>
            <a:ext cx="502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C9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0EA5C9"/>
                </a:solidFill>
                <a:latin typeface="Trebuchet MS"/>
                <a:ea typeface="Trebuchet MS"/>
                <a:cs typeface="Trebuchet MS"/>
                <a:sym typeface="Trebuchet MS"/>
              </a:rPr>
              <a:t>Q5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4023360" y="2587752"/>
            <a:ext cx="2057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22D3EE"/>
                </a:solidFill>
                <a:latin typeface="Trebuchet MS"/>
                <a:ea typeface="Trebuchet MS"/>
                <a:cs typeface="Trebuchet MS"/>
                <a:sym typeface="Trebuchet MS"/>
              </a:rPr>
              <a:t>Channel &amp; Fulfillment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4023360" y="2971800"/>
            <a:ext cx="2057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BF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Sales channel × fulfillment method performance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6309360" y="2496312"/>
            <a:ext cx="2743200" cy="109728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6309360" y="2496312"/>
            <a:ext cx="502920" cy="1097280"/>
          </a:xfrm>
          <a:prstGeom prst="rect">
            <a:avLst/>
          </a:prstGeom>
          <a:solidFill>
            <a:srgbClr val="0D2545"/>
          </a:solidFill>
          <a:ln cap="flat" cmpd="sng" w="12700">
            <a:solidFill>
              <a:srgbClr val="0D2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6309360" y="2496312"/>
            <a:ext cx="502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C9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0EA5C9"/>
                </a:solidFill>
                <a:latin typeface="Trebuchet MS"/>
                <a:ea typeface="Trebuchet MS"/>
                <a:cs typeface="Trebuchet MS"/>
                <a:sym typeface="Trebuchet MS"/>
              </a:rPr>
              <a:t>Q6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6903720" y="2587752"/>
            <a:ext cx="2057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22D3EE"/>
                </a:solidFill>
                <a:latin typeface="Trebuchet MS"/>
                <a:ea typeface="Trebuchet MS"/>
                <a:cs typeface="Trebuchet MS"/>
                <a:sym typeface="Trebuchet MS"/>
              </a:rPr>
              <a:t>MoM Growth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6903720" y="2971800"/>
            <a:ext cx="2057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BF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Month-over-Month revenue via LAG() Window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548640" y="3730752"/>
            <a:ext cx="2743200" cy="109728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548640" y="3730752"/>
            <a:ext cx="502920" cy="1097280"/>
          </a:xfrm>
          <a:prstGeom prst="rect">
            <a:avLst/>
          </a:prstGeom>
          <a:solidFill>
            <a:srgbClr val="0D2545"/>
          </a:solidFill>
          <a:ln cap="flat" cmpd="sng" w="12700">
            <a:solidFill>
              <a:srgbClr val="0D2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548640" y="3730752"/>
            <a:ext cx="502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C9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0EA5C9"/>
                </a:solidFill>
                <a:latin typeface="Trebuchet MS"/>
                <a:ea typeface="Trebuchet MS"/>
                <a:cs typeface="Trebuchet MS"/>
                <a:sym typeface="Trebuchet MS"/>
              </a:rPr>
              <a:t>Q7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1143000" y="3822192"/>
            <a:ext cx="2057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22D3EE"/>
                </a:solidFill>
                <a:latin typeface="Trebuchet MS"/>
                <a:ea typeface="Trebuchet MS"/>
                <a:cs typeface="Trebuchet MS"/>
                <a:sym typeface="Trebuchet MS"/>
              </a:rPr>
              <a:t>State Performance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1143000" y="4206240"/>
            <a:ext cx="2057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BF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Top 15 negara bagian — RANK Window, pct_revenue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3429000" y="3730752"/>
            <a:ext cx="2743200" cy="109728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3429000" y="3730752"/>
            <a:ext cx="502920" cy="1097280"/>
          </a:xfrm>
          <a:prstGeom prst="rect">
            <a:avLst/>
          </a:prstGeom>
          <a:solidFill>
            <a:srgbClr val="0D2545"/>
          </a:solidFill>
          <a:ln cap="flat" cmpd="sng" w="12700">
            <a:solidFill>
              <a:srgbClr val="0D2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7"/>
          <p:cNvSpPr/>
          <p:nvPr/>
        </p:nvSpPr>
        <p:spPr>
          <a:xfrm>
            <a:off x="3429000" y="3730752"/>
            <a:ext cx="502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C9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0EA5C9"/>
                </a:solidFill>
                <a:latin typeface="Trebuchet MS"/>
                <a:ea typeface="Trebuchet MS"/>
                <a:cs typeface="Trebuchet MS"/>
                <a:sym typeface="Trebuchet MS"/>
              </a:rPr>
              <a:t>Q8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4023360" y="3822192"/>
            <a:ext cx="2057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22D3EE"/>
                </a:solidFill>
                <a:latin typeface="Trebuchet MS"/>
                <a:ea typeface="Trebuchet MS"/>
                <a:cs typeface="Trebuchet MS"/>
                <a:sym typeface="Trebuchet MS"/>
              </a:rPr>
              <a:t>Segmentasi Harga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4023360" y="4206240"/>
            <a:ext cx="2057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BF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Budget (&lt;300) / Mid (300-700) / Premium (&gt;700 INR)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6309360" y="3730752"/>
            <a:ext cx="2743200" cy="109728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7"/>
          <p:cNvSpPr/>
          <p:nvPr/>
        </p:nvSpPr>
        <p:spPr>
          <a:xfrm>
            <a:off x="6309360" y="3730752"/>
            <a:ext cx="502920" cy="1097280"/>
          </a:xfrm>
          <a:prstGeom prst="rect">
            <a:avLst/>
          </a:prstGeom>
          <a:solidFill>
            <a:srgbClr val="0D2545"/>
          </a:solidFill>
          <a:ln cap="flat" cmpd="sng" w="12700">
            <a:solidFill>
              <a:srgbClr val="0D2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6309360" y="3730752"/>
            <a:ext cx="502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C9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0EA5C9"/>
                </a:solidFill>
                <a:latin typeface="Trebuchet MS"/>
                <a:ea typeface="Trebuchet MS"/>
                <a:cs typeface="Trebuchet MS"/>
                <a:sym typeface="Trebuchet MS"/>
              </a:rPr>
              <a:t>Q9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6903720" y="3822192"/>
            <a:ext cx="2057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22D3EE"/>
                </a:solidFill>
                <a:latin typeface="Trebuchet MS"/>
                <a:ea typeface="Trebuchet MS"/>
                <a:cs typeface="Trebuchet MS"/>
                <a:sym typeface="Trebuchet MS"/>
              </a:rPr>
              <a:t>Courier Impact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6903720" y="4206240"/>
            <a:ext cx="2057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BF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Status kurir × states/categories covered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8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"/>
          <p:cNvSpPr/>
          <p:nvPr/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04 · EDA &amp; INSIGHT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548640" y="56692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lang="en-US" sz="2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Temuan Bisnis Utama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5394960" y="3657600"/>
            <a:ext cx="3474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BF7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Set &amp; Kurta dominasi revenue — fashion wanita India jadi penggerak utama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E2EBF7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Shipped rate ~72% — ruang peningkatan efisiensi fulfillment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E2EBF7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B2B avg order value lebih tinggi dari B2C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" y="1222248"/>
            <a:ext cx="4770120" cy="3386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4949" y="1222250"/>
            <a:ext cx="3081697" cy="243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9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05 · STRATEGI DATABASE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548640" y="56692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lang="en-US" sz="2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MySQL vs MongoDB — Hybrid Storage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548640" y="1234440"/>
            <a:ext cx="3977640" cy="356616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9"/>
          <p:cNvSpPr/>
          <p:nvPr/>
        </p:nvSpPr>
        <p:spPr>
          <a:xfrm>
            <a:off x="548640" y="1234440"/>
            <a:ext cx="3977640" cy="347472"/>
          </a:xfrm>
          <a:prstGeom prst="rect">
            <a:avLst/>
          </a:prstGeom>
          <a:solidFill>
            <a:srgbClr val="1A3A6A"/>
          </a:solidFill>
          <a:ln cap="flat" cmpd="sng" w="12700">
            <a:solidFill>
              <a:srgbClr val="1A3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640080" y="126187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60A5FA"/>
                </a:solidFill>
                <a:latin typeface="Trebuchet MS"/>
                <a:ea typeface="Trebuchet MS"/>
                <a:cs typeface="Trebuchet MS"/>
                <a:sym typeface="Trebuchet MS"/>
              </a:rPr>
              <a:t>🗄️  MySQL — final_bidat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685800" y="1783080"/>
            <a:ext cx="3657600" cy="594300"/>
          </a:xfrm>
          <a:prstGeom prst="rect">
            <a:avLst/>
          </a:prstGeom>
          <a:solidFill>
            <a:srgbClr val="0D254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822960" y="1828800"/>
            <a:ext cx="3383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100"/>
              <a:buFont typeface="Consolas"/>
              <a:buNone/>
            </a:pPr>
            <a:r>
              <a:rPr b="1" lang="en-US" sz="1100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orders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822960" y="2103120"/>
            <a:ext cx="338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128.976K baris, 26 kolom — v</a:t>
            </a:r>
            <a:r>
              <a:rPr lang="en-US" sz="95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95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a Spark JDBC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685800" y="2496312"/>
            <a:ext cx="3657600" cy="594300"/>
          </a:xfrm>
          <a:prstGeom prst="rect">
            <a:avLst/>
          </a:prstGeom>
          <a:solidFill>
            <a:srgbClr val="0D254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9"/>
          <p:cNvSpPr/>
          <p:nvPr/>
        </p:nvSpPr>
        <p:spPr>
          <a:xfrm>
            <a:off x="822960" y="2542032"/>
            <a:ext cx="3383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100"/>
              <a:buFont typeface="Consolas"/>
              <a:buNone/>
            </a:pPr>
            <a:r>
              <a:rPr b="1" lang="en-US" sz="1100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monthly_summary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822960" y="2816352"/>
            <a:ext cx="338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Agregat bulanan — via</a:t>
            </a:r>
            <a:r>
              <a:rPr lang="en-US" sz="95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5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mysql-connector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685800" y="3209544"/>
            <a:ext cx="3657600" cy="594300"/>
          </a:xfrm>
          <a:prstGeom prst="rect">
            <a:avLst/>
          </a:prstGeom>
          <a:solidFill>
            <a:srgbClr val="0D254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9"/>
          <p:cNvSpPr/>
          <p:nvPr/>
        </p:nvSpPr>
        <p:spPr>
          <a:xfrm>
            <a:off x="822960" y="3255264"/>
            <a:ext cx="3383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100"/>
              <a:buFont typeface="Consolas"/>
              <a:buNone/>
            </a:pPr>
            <a:r>
              <a:rPr b="1" lang="en-US" sz="1100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category_stats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822960" y="3529584"/>
            <a:ext cx="338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Statistik per kategori — vi</a:t>
            </a:r>
            <a:r>
              <a:rPr lang="en-US" sz="95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95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 mys</a:t>
            </a:r>
            <a:r>
              <a:rPr lang="en-US" sz="95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95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l-connector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685800" y="3995928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✅ ACID, Relasi, JOIN kompleks, Indexing efisien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4754880" y="1234440"/>
            <a:ext cx="4114800" cy="356616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4754880" y="1234440"/>
            <a:ext cx="4114800" cy="347472"/>
          </a:xfrm>
          <a:prstGeom prst="rect">
            <a:avLst/>
          </a:prstGeom>
          <a:solidFill>
            <a:srgbClr val="0A2A1A"/>
          </a:solidFill>
          <a:ln cap="flat" cmpd="sng" w="12700">
            <a:solidFill>
              <a:srgbClr val="0A2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"/>
          <p:cNvSpPr/>
          <p:nvPr/>
        </p:nvSpPr>
        <p:spPr>
          <a:xfrm>
            <a:off x="4846320" y="126187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34D399"/>
                </a:solidFill>
                <a:latin typeface="Trebuchet MS"/>
                <a:ea typeface="Trebuchet MS"/>
                <a:cs typeface="Trebuchet MS"/>
                <a:sym typeface="Trebuchet MS"/>
              </a:rPr>
              <a:t>🍃  MongoDB — final_bidat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4892040" y="1783080"/>
            <a:ext cx="3840480" cy="594360"/>
          </a:xfrm>
          <a:prstGeom prst="rect">
            <a:avLst/>
          </a:prstGeom>
          <a:solidFill>
            <a:srgbClr val="0D254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9"/>
          <p:cNvSpPr/>
          <p:nvPr/>
        </p:nvSpPr>
        <p:spPr>
          <a:xfrm>
            <a:off x="5029200" y="1828800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b="1" lang="en-US" sz="1100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orders_detail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5029200" y="210312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Dokumen lengkap — promotion_ids sebagai ARRAY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4892040" y="2496312"/>
            <a:ext cx="3840480" cy="594360"/>
          </a:xfrm>
          <a:prstGeom prst="rect">
            <a:avLst/>
          </a:prstGeom>
          <a:solidFill>
            <a:srgbClr val="0D254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9"/>
          <p:cNvSpPr/>
          <p:nvPr/>
        </p:nvSpPr>
        <p:spPr>
          <a:xfrm>
            <a:off x="5029200" y="2542032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b="1" lang="en-US" sz="1100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category_insights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5029200" y="2816352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Nested price_range {min,max}, sizes_breakdown ARRAY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4892040" y="32918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✅ Schema fleksibel, Nested object, Array natively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084FC"/>
          </a:solidFill>
          <a:ln cap="flat" cmpd="sng" w="12700">
            <a:solidFill>
              <a:srgbClr val="C084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"/>
          <p:cNvSpPr/>
          <p:nvPr/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C084FC"/>
                </a:solidFill>
                <a:latin typeface="Calibri"/>
                <a:ea typeface="Calibri"/>
                <a:cs typeface="Calibri"/>
                <a:sym typeface="Calibri"/>
              </a:rPr>
              <a:t>05 · INTEGRASI CROSS-SYSTEM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548640" y="56692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lang="en-US" sz="2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JOIN MySQL × MongoDB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433700" y="1325875"/>
            <a:ext cx="2036700" cy="105150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0"/>
          <p:cNvSpPr/>
          <p:nvPr/>
        </p:nvSpPr>
        <p:spPr>
          <a:xfrm>
            <a:off x="433700" y="1371595"/>
            <a:ext cx="20367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60A5FA"/>
                </a:solidFill>
                <a:latin typeface="Trebuchet MS"/>
                <a:ea typeface="Trebuchet MS"/>
                <a:cs typeface="Trebuchet MS"/>
                <a:sym typeface="Trebuchet MS"/>
              </a:rPr>
              <a:t>MySQL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60A5FA"/>
                </a:solidFill>
                <a:latin typeface="Trebuchet MS"/>
                <a:ea typeface="Trebuchet MS"/>
                <a:cs typeface="Trebuchet MS"/>
                <a:sym typeface="Trebuchet MS"/>
              </a:rPr>
              <a:t>orders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433700" y="1920235"/>
            <a:ext cx="2036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(Shipped)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2536817" y="1719072"/>
            <a:ext cx="183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1400"/>
              <a:buFont typeface="Trebuchet MS"/>
              <a:buNone/>
            </a:pPr>
            <a:r>
              <a:rPr lang="en-US" sz="1400">
                <a:solidFill>
                  <a:srgbClr val="6B8BB5"/>
                </a:solidFill>
                <a:latin typeface="Trebuchet MS"/>
                <a:ea typeface="Trebuchet MS"/>
                <a:cs typeface="Trebuchet MS"/>
                <a:sym typeface="Trebuchet MS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2647518" y="1325875"/>
            <a:ext cx="2036700" cy="105150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0"/>
          <p:cNvSpPr/>
          <p:nvPr/>
        </p:nvSpPr>
        <p:spPr>
          <a:xfrm>
            <a:off x="2647518" y="1371595"/>
            <a:ext cx="20367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34D399"/>
                </a:solidFill>
                <a:latin typeface="Trebuchet MS"/>
                <a:ea typeface="Trebuchet MS"/>
                <a:cs typeface="Trebuchet MS"/>
                <a:sym typeface="Trebuchet MS"/>
              </a:rPr>
              <a:t>MongoDB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34D399"/>
                </a:solidFill>
                <a:latin typeface="Trebuchet MS"/>
                <a:ea typeface="Trebuchet MS"/>
                <a:cs typeface="Trebuchet MS"/>
                <a:sym typeface="Trebuchet MS"/>
              </a:rPr>
              <a:t>category_insights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2647518" y="1920235"/>
            <a:ext cx="2036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(avg_price, revenue)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4822817" y="1719072"/>
            <a:ext cx="183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1400"/>
              <a:buFont typeface="Trebuchet MS"/>
              <a:buNone/>
            </a:pPr>
            <a:r>
              <a:rPr lang="en-US" sz="1400">
                <a:solidFill>
                  <a:srgbClr val="6B8BB5"/>
                </a:solidFill>
                <a:latin typeface="Trebuchet MS"/>
                <a:ea typeface="Trebuchet MS"/>
                <a:cs typeface="Trebuchet MS"/>
                <a:sym typeface="Trebuchet MS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4861336" y="1325875"/>
            <a:ext cx="2036700" cy="105150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C084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0"/>
          <p:cNvSpPr/>
          <p:nvPr/>
        </p:nvSpPr>
        <p:spPr>
          <a:xfrm>
            <a:off x="4861336" y="1371595"/>
            <a:ext cx="20367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C084FC"/>
                </a:solidFill>
                <a:latin typeface="Trebuchet MS"/>
                <a:ea typeface="Trebuchet MS"/>
                <a:cs typeface="Trebuchet MS"/>
                <a:sym typeface="Trebuchet MS"/>
              </a:rPr>
              <a:t>pandas.merge()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C084FC"/>
                </a:solidFill>
                <a:latin typeface="Trebuchet MS"/>
                <a:ea typeface="Trebuchet MS"/>
                <a:cs typeface="Trebuchet MS"/>
                <a:sym typeface="Trebuchet MS"/>
              </a:rPr>
              <a:t>on 'category'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4861336" y="1920235"/>
            <a:ext cx="2036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Driver merge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7108817" y="1719072"/>
            <a:ext cx="183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1400"/>
              <a:buFont typeface="Trebuchet MS"/>
              <a:buNone/>
            </a:pPr>
            <a:r>
              <a:rPr lang="en-US" sz="1400">
                <a:solidFill>
                  <a:srgbClr val="6B8BB5"/>
                </a:solidFill>
                <a:latin typeface="Trebuchet MS"/>
                <a:ea typeface="Trebuchet MS"/>
                <a:cs typeface="Trebuchet MS"/>
                <a:sym typeface="Trebuchet MS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7030878" y="1325875"/>
            <a:ext cx="2036700" cy="105150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7030878" y="1371595"/>
            <a:ext cx="20367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BBF24"/>
                </a:solidFill>
                <a:latin typeface="Trebuchet MS"/>
                <a:ea typeface="Trebuchet MS"/>
                <a:cs typeface="Trebuchet MS"/>
                <a:sym typeface="Trebuchet MS"/>
              </a:rPr>
              <a:t>Derived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BBF24"/>
                </a:solidFill>
                <a:latin typeface="Trebuchet MS"/>
                <a:ea typeface="Trebuchet MS"/>
                <a:cs typeface="Trebuchet MS"/>
                <a:sym typeface="Trebuchet MS"/>
              </a:rPr>
              <a:t>Columns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7030878" y="1920235"/>
            <a:ext cx="2036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price_vs_avg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pct_of_revenue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548640" y="2578608"/>
            <a:ext cx="8321040" cy="502920"/>
          </a:xfrm>
          <a:prstGeom prst="rect">
            <a:avLst/>
          </a:prstGeom>
          <a:solidFill>
            <a:srgbClr val="12003A"/>
          </a:solidFill>
          <a:ln cap="flat" cmpd="sng" w="12700">
            <a:solidFill>
              <a:srgbClr val="C084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0"/>
          <p:cNvSpPr/>
          <p:nvPr/>
        </p:nvSpPr>
        <p:spPr>
          <a:xfrm>
            <a:off x="685800" y="263347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084FC"/>
                </a:solidFill>
                <a:latin typeface="Calibri"/>
                <a:ea typeface="Calibri"/>
                <a:cs typeface="Calibri"/>
                <a:sym typeface="Calibri"/>
              </a:rPr>
              <a:t>💡 Mengapa pandas.merge()? Lebih stabil di Windows — Spark DataFrame JOIN rentan crash akibat worker thread di local mode.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548640" y="32461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Output Integrasi: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548640" y="3657600"/>
            <a:ext cx="8321040" cy="347472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685800" y="370332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C084FC"/>
                </a:solidFill>
                <a:latin typeface="Consolas"/>
                <a:ea typeface="Consolas"/>
                <a:cs typeface="Consolas"/>
                <a:sym typeface="Consolas"/>
              </a:rPr>
              <a:t>price_vs_category_avg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3291840" y="3703320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BF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Above Average / Below Average / At Average per order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548640" y="4069080"/>
            <a:ext cx="8321040" cy="347472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0"/>
          <p:cNvSpPr/>
          <p:nvPr/>
        </p:nvSpPr>
        <p:spPr>
          <a:xfrm>
            <a:off x="685800" y="411480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C084FC"/>
                </a:solidFill>
                <a:latin typeface="Consolas"/>
                <a:ea typeface="Consolas"/>
                <a:cs typeface="Consolas"/>
                <a:sym typeface="Consolas"/>
              </a:rPr>
              <a:t>pct_of_cat_revenue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3291840" y="4114800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BF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Kontribusi setiap order terhadap total revenue kategorinya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548640" y="4480560"/>
            <a:ext cx="8321040" cy="347472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0"/>
          <p:cNvSpPr/>
          <p:nvPr/>
        </p:nvSpPr>
        <p:spPr>
          <a:xfrm>
            <a:off x="685800" y="452628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C084FC"/>
                </a:solidFill>
                <a:latin typeface="Consolas"/>
                <a:ea typeface="Consolas"/>
                <a:cs typeface="Consolas"/>
                <a:sym typeface="Consolas"/>
              </a:rPr>
              <a:t>Agregasi segmentasi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3291840" y="4526280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BF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Jumlah order &amp; total revenue per kategori × price segment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1"/>
          <p:cNvSpPr/>
          <p:nvPr/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05 · DASHBOARD STREAMLIT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548640" y="56692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lang="en-US" sz="2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Visualisasi Interaktif — app.py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548640" y="1261872"/>
            <a:ext cx="2011680" cy="91440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0EA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1"/>
          <p:cNvSpPr/>
          <p:nvPr/>
        </p:nvSpPr>
        <p:spPr>
          <a:xfrm>
            <a:off x="548640" y="1261872"/>
            <a:ext cx="2011680" cy="109728"/>
          </a:xfrm>
          <a:prstGeom prst="rect">
            <a:avLst/>
          </a:prstGeom>
          <a:solidFill>
            <a:srgbClr val="0EA5C9"/>
          </a:solidFill>
          <a:ln cap="flat" cmpd="sng" w="12700">
            <a:solidFill>
              <a:srgbClr val="0EA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1"/>
          <p:cNvSpPr/>
          <p:nvPr/>
        </p:nvSpPr>
        <p:spPr>
          <a:xfrm>
            <a:off x="548640" y="141732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C9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0EA5C9"/>
                </a:solidFill>
                <a:latin typeface="Trebuchet MS"/>
                <a:ea typeface="Trebuchet MS"/>
                <a:cs typeface="Trebuchet MS"/>
                <a:sym typeface="Trebuchet MS"/>
              </a:rPr>
              <a:t>128.976K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548640" y="190195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Total Orders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2697480" y="1261872"/>
            <a:ext cx="2011680" cy="91440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1"/>
          <p:cNvSpPr/>
          <p:nvPr/>
        </p:nvSpPr>
        <p:spPr>
          <a:xfrm>
            <a:off x="2697480" y="1261872"/>
            <a:ext cx="2011680" cy="109728"/>
          </a:xfrm>
          <a:prstGeom prst="rect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1"/>
          <p:cNvSpPr/>
          <p:nvPr/>
        </p:nvSpPr>
        <p:spPr>
          <a:xfrm>
            <a:off x="2697480" y="141732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22D3EE"/>
                </a:solidFill>
                <a:latin typeface="Trebuchet MS"/>
                <a:ea typeface="Trebuchet MS"/>
                <a:cs typeface="Trebuchet MS"/>
                <a:sym typeface="Trebuchet MS"/>
              </a:rPr>
              <a:t>INR ratusan juta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2697480" y="190195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Total Revenue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4846320" y="1261872"/>
            <a:ext cx="2011680" cy="91440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1"/>
          <p:cNvSpPr/>
          <p:nvPr/>
        </p:nvSpPr>
        <p:spPr>
          <a:xfrm>
            <a:off x="4846320" y="1261872"/>
            <a:ext cx="2011680" cy="109728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1"/>
          <p:cNvSpPr/>
          <p:nvPr/>
        </p:nvSpPr>
        <p:spPr>
          <a:xfrm>
            <a:off x="4846320" y="141732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34D399"/>
                </a:solidFill>
                <a:latin typeface="Trebuchet MS"/>
                <a:ea typeface="Trebuchet MS"/>
                <a:cs typeface="Trebuchet MS"/>
                <a:sym typeface="Trebuchet MS"/>
              </a:rPr>
              <a:t>~72%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4846320" y="190195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Shipped Rate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6995160" y="1261872"/>
            <a:ext cx="2011680" cy="91440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1"/>
          <p:cNvSpPr/>
          <p:nvPr/>
        </p:nvSpPr>
        <p:spPr>
          <a:xfrm>
            <a:off x="6995160" y="1261872"/>
            <a:ext cx="2011680" cy="109728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1"/>
          <p:cNvSpPr/>
          <p:nvPr/>
        </p:nvSpPr>
        <p:spPr>
          <a:xfrm>
            <a:off x="6995160" y="141732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FBBF24"/>
                </a:solidFill>
                <a:latin typeface="Trebuchet MS"/>
                <a:ea typeface="Trebuchet MS"/>
                <a:cs typeface="Trebuchet MS"/>
                <a:sym typeface="Trebuchet MS"/>
              </a:rPr>
              <a:t>Set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6995160" y="190195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Top Category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548640" y="237744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22D3EE"/>
                </a:solidFill>
                <a:latin typeface="Trebuchet MS"/>
                <a:ea typeface="Trebuchet MS"/>
                <a:cs typeface="Trebuchet MS"/>
                <a:sym typeface="Trebuchet MS"/>
              </a:rPr>
              <a:t>Fitur Visualisasi Dashboard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548640" y="2788920"/>
            <a:ext cx="402336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BF7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KPI Cards — Revenue, Orders, Shipped Rate, Top Category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E2EBF7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Line Chart — Tren penjualan bulanan (interaktif Plotly)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E2EBF7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Bar Chart — Revenue per kategori produk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E2EBF7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Pie Charts — Distribusi status order &amp; B2B vs B2C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E2EBF7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Heatmap — Kategori × Bulan (revenue density)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E2EBF7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Tabel Top States — Filter interaktif per negara bagian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E2EBF7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Tabel Segmentasi Harga — Hasil cross-system JOIN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4800600" y="237744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22D3EE"/>
                </a:solidFill>
                <a:latin typeface="Trebuchet MS"/>
                <a:ea typeface="Trebuchet MS"/>
                <a:cs typeface="Trebuchet MS"/>
                <a:sym typeface="Trebuchet MS"/>
              </a:rPr>
              <a:t>Stack Dashboard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4800600" y="2788920"/>
            <a:ext cx="4023360" cy="50292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1"/>
          <p:cNvSpPr/>
          <p:nvPr/>
        </p:nvSpPr>
        <p:spPr>
          <a:xfrm>
            <a:off x="4937760" y="2825496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22D3EE"/>
                </a:solidFill>
                <a:latin typeface="Trebuchet MS"/>
                <a:ea typeface="Trebuchet MS"/>
                <a:cs typeface="Trebuchet MS"/>
                <a:sym typeface="Trebuchet MS"/>
              </a:rPr>
              <a:t>Streamlit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4937760" y="3063240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Web framework Python, hot-reload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1"/>
          <p:cNvSpPr/>
          <p:nvPr/>
        </p:nvSpPr>
        <p:spPr>
          <a:xfrm>
            <a:off x="4800600" y="3383280"/>
            <a:ext cx="4023360" cy="50292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1"/>
          <p:cNvSpPr/>
          <p:nvPr/>
        </p:nvSpPr>
        <p:spPr>
          <a:xfrm>
            <a:off x="4937760" y="3419856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22D3EE"/>
                </a:solidFill>
                <a:latin typeface="Trebuchet MS"/>
                <a:ea typeface="Trebuchet MS"/>
                <a:cs typeface="Trebuchet MS"/>
                <a:sym typeface="Trebuchet MS"/>
              </a:rPr>
              <a:t>Plotly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/>
          <p:nvPr/>
        </p:nvSpPr>
        <p:spPr>
          <a:xfrm>
            <a:off x="4937760" y="3657600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Grafik interaktif (zoom, hover, filter)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/>
          <p:nvPr/>
        </p:nvSpPr>
        <p:spPr>
          <a:xfrm>
            <a:off x="4800600" y="3977640"/>
            <a:ext cx="4023360" cy="50292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1"/>
          <p:cNvSpPr/>
          <p:nvPr/>
        </p:nvSpPr>
        <p:spPr>
          <a:xfrm>
            <a:off x="4937760" y="4014216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22D3EE"/>
                </a:solidFill>
                <a:latin typeface="Trebuchet MS"/>
                <a:ea typeface="Trebuchet MS"/>
                <a:cs typeface="Trebuchet MS"/>
                <a:sym typeface="Trebuchet MS"/>
              </a:rPr>
              <a:t>JSON Export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4937760" y="4251960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8 file dari pipeline: summary, monthly, category, status, states, b2b, heatmap, price_segments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1"/>
          <p:cNvSpPr/>
          <p:nvPr/>
        </p:nvSpPr>
        <p:spPr>
          <a:xfrm>
            <a:off x="4800600" y="4572000"/>
            <a:ext cx="4023360" cy="50292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1"/>
          <p:cNvSpPr/>
          <p:nvPr/>
        </p:nvSpPr>
        <p:spPr>
          <a:xfrm>
            <a:off x="4937760" y="4608576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22D3EE"/>
                </a:solidFill>
                <a:latin typeface="Trebuchet MS"/>
                <a:ea typeface="Trebuchet MS"/>
                <a:cs typeface="Trebuchet MS"/>
                <a:sym typeface="Trebuchet MS"/>
              </a:rPr>
              <a:t>Dark Mode CSS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1"/>
          <p:cNvSpPr/>
          <p:nvPr/>
        </p:nvSpPr>
        <p:spPr>
          <a:xfrm>
            <a:off x="4937760" y="4846320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Custom styling GitHub-inspired palette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3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3"/>
          <p:cNvSpPr/>
          <p:nvPr/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06 · KESIMPULAN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548640" y="56692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Hasil &amp; Pembelajaran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548640" y="1261872"/>
            <a:ext cx="4114800" cy="109728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0EA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3"/>
          <p:cNvSpPr/>
          <p:nvPr/>
        </p:nvSpPr>
        <p:spPr>
          <a:xfrm>
            <a:off x="548640" y="1261872"/>
            <a:ext cx="73152" cy="1097280"/>
          </a:xfrm>
          <a:prstGeom prst="rect">
            <a:avLst/>
          </a:prstGeom>
          <a:solidFill>
            <a:srgbClr val="0EA5C9"/>
          </a:solidFill>
          <a:ln cap="flat" cmpd="sng" w="12700">
            <a:solidFill>
              <a:srgbClr val="0EA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3"/>
          <p:cNvSpPr/>
          <p:nvPr/>
        </p:nvSpPr>
        <p:spPr>
          <a:xfrm>
            <a:off x="731520" y="135331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C9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0EA5C9"/>
                </a:solidFill>
                <a:latin typeface="Trebuchet MS"/>
                <a:ea typeface="Trebuchet MS"/>
                <a:cs typeface="Trebuchet MS"/>
                <a:sym typeface="Trebuchet MS"/>
              </a:rPr>
              <a:t>Pipeline Fungsional E2E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731520" y="1700784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BF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Seluruh alur CSV → Spark → MySQL/MongoDB → Streamlit berjalan terintegrasi dalam satu ekosistem.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4892040" y="1261872"/>
            <a:ext cx="4114800" cy="109728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3"/>
          <p:cNvSpPr/>
          <p:nvPr/>
        </p:nvSpPr>
        <p:spPr>
          <a:xfrm>
            <a:off x="4892040" y="1261872"/>
            <a:ext cx="73152" cy="1097280"/>
          </a:xfrm>
          <a:prstGeom prst="rect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3"/>
          <p:cNvSpPr/>
          <p:nvPr/>
        </p:nvSpPr>
        <p:spPr>
          <a:xfrm>
            <a:off x="5074920" y="135331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60A5FA"/>
                </a:solidFill>
                <a:latin typeface="Trebuchet MS"/>
                <a:ea typeface="Trebuchet MS"/>
                <a:cs typeface="Trebuchet MS"/>
                <a:sym typeface="Trebuchet MS"/>
              </a:rPr>
              <a:t>Hybrid Database Efektif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5074920" y="1700784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BF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MySQL untuk data flat/transaksional; MongoDB untuk nested/array. Pemisahan ini optimal untuk analitik e-commerce.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548640" y="2496312"/>
            <a:ext cx="4114800" cy="109728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3"/>
          <p:cNvSpPr/>
          <p:nvPr/>
        </p:nvSpPr>
        <p:spPr>
          <a:xfrm>
            <a:off x="548640" y="2496312"/>
            <a:ext cx="73152" cy="109728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3"/>
          <p:cNvSpPr/>
          <p:nvPr/>
        </p:nvSpPr>
        <p:spPr>
          <a:xfrm>
            <a:off x="731520" y="258775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34D399"/>
                </a:solidFill>
                <a:latin typeface="Trebuchet MS"/>
                <a:ea typeface="Trebuchet MS"/>
                <a:cs typeface="Trebuchet MS"/>
                <a:sym typeface="Trebuchet MS"/>
              </a:rPr>
              <a:t>Kualitas Data Terjaga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3"/>
          <p:cNvSpPr/>
          <p:nvPr/>
        </p:nvSpPr>
        <p:spPr>
          <a:xfrm>
            <a:off x="731520" y="2935224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BF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Multi-format date parsing (coalesce) → null date = 0. 9 transformasi cleaning menghasilkan dataset analitik berkualitas.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3"/>
          <p:cNvSpPr/>
          <p:nvPr/>
        </p:nvSpPr>
        <p:spPr>
          <a:xfrm>
            <a:off x="4892040" y="2496312"/>
            <a:ext cx="4114800" cy="109728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3"/>
          <p:cNvSpPr/>
          <p:nvPr/>
        </p:nvSpPr>
        <p:spPr>
          <a:xfrm>
            <a:off x="4892040" y="2496312"/>
            <a:ext cx="73152" cy="1097280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3"/>
          <p:cNvSpPr/>
          <p:nvPr/>
        </p:nvSpPr>
        <p:spPr>
          <a:xfrm>
            <a:off x="5074920" y="258775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FBBF24"/>
                </a:solidFill>
                <a:latin typeface="Trebuchet MS"/>
                <a:ea typeface="Trebuchet MS"/>
                <a:cs typeface="Trebuchet MS"/>
                <a:sym typeface="Trebuchet MS"/>
              </a:rPr>
              <a:t>Analitik Komprehensif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5074920" y="2935224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BF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9 Spark SQL queries menghasilkan insight bisnis: funnel konversi, MoM growth, segmentasi harga, performa geografis.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548640" y="3730752"/>
            <a:ext cx="4114800" cy="109728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C084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3"/>
          <p:cNvSpPr/>
          <p:nvPr/>
        </p:nvSpPr>
        <p:spPr>
          <a:xfrm>
            <a:off x="548640" y="3730752"/>
            <a:ext cx="73152" cy="1097280"/>
          </a:xfrm>
          <a:prstGeom prst="rect">
            <a:avLst/>
          </a:prstGeom>
          <a:solidFill>
            <a:srgbClr val="C084FC"/>
          </a:solidFill>
          <a:ln cap="flat" cmpd="sng" w="12700">
            <a:solidFill>
              <a:srgbClr val="C084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3"/>
          <p:cNvSpPr/>
          <p:nvPr/>
        </p:nvSpPr>
        <p:spPr>
          <a:xfrm>
            <a:off x="731520" y="382219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C084FC"/>
                </a:solidFill>
                <a:latin typeface="Trebuchet MS"/>
                <a:ea typeface="Trebuchet MS"/>
                <a:cs typeface="Trebuchet MS"/>
                <a:sym typeface="Trebuchet MS"/>
              </a:rPr>
              <a:t>Stabil di Windows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3"/>
          <p:cNvSpPr/>
          <p:nvPr/>
        </p:nvSpPr>
        <p:spPr>
          <a:xfrm>
            <a:off x="731520" y="4169664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BF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Konfigurasi local[2], Arrow disabled, faulthandler — pipeline reproducible di lingkungan development lokal.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3"/>
          <p:cNvSpPr/>
          <p:nvPr/>
        </p:nvSpPr>
        <p:spPr>
          <a:xfrm>
            <a:off x="4892040" y="3730752"/>
            <a:ext cx="4114800" cy="1097280"/>
          </a:xfrm>
          <a:prstGeom prst="rect">
            <a:avLst/>
          </a:prstGeom>
          <a:solidFill>
            <a:srgbClr val="122D55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3"/>
          <p:cNvSpPr/>
          <p:nvPr/>
        </p:nvSpPr>
        <p:spPr>
          <a:xfrm>
            <a:off x="4892040" y="3730752"/>
            <a:ext cx="73152" cy="1097280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3"/>
          <p:cNvSpPr/>
          <p:nvPr/>
        </p:nvSpPr>
        <p:spPr>
          <a:xfrm>
            <a:off x="5074920" y="382219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F87171"/>
                </a:solidFill>
                <a:latin typeface="Trebuchet MS"/>
                <a:ea typeface="Trebuchet MS"/>
                <a:cs typeface="Trebuchet MS"/>
                <a:sym typeface="Trebuchet MS"/>
              </a:rPr>
              <a:t>Nilai Bisnis Nyata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3"/>
          <p:cNvSpPr/>
          <p:nvPr/>
        </p:nvSpPr>
        <p:spPr>
          <a:xfrm>
            <a:off x="5074920" y="4169664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BF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BF7"/>
                </a:solidFill>
                <a:latin typeface="Calibri"/>
                <a:ea typeface="Calibri"/>
                <a:cs typeface="Calibri"/>
                <a:sym typeface="Calibri"/>
              </a:rPr>
              <a:t>Set &amp; Kurta dominasi revenue. Shipped rate ~72%. Potensi peningkatan melalui analisis promosi dan segmentasi B2B.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4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22D55"/>
          </a:solidFill>
          <a:ln cap="flat" cmpd="sng" w="12700">
            <a:solidFill>
              <a:srgbClr val="122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4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D2545"/>
          </a:solidFill>
          <a:ln cap="flat" cmpd="sng" w="12700">
            <a:solidFill>
              <a:srgbClr val="0D2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4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Trebuchet MS"/>
              <a:buNone/>
            </a:pPr>
            <a:r>
              <a:rPr b="1" lang="en-US"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TERIMA KASIH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4"/>
          <p:cNvSpPr/>
          <p:nvPr/>
        </p:nvSpPr>
        <p:spPr>
          <a:xfrm>
            <a:off x="914400" y="205740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000"/>
              <a:buFont typeface="Trebuchet MS"/>
              <a:buNone/>
            </a:pPr>
            <a:r>
              <a:rPr lang="en-US" sz="2000">
                <a:solidFill>
                  <a:srgbClr val="22D3EE"/>
                </a:solidFill>
                <a:latin typeface="Trebuchet MS"/>
                <a:ea typeface="Trebuchet MS"/>
                <a:cs typeface="Trebuchet MS"/>
                <a:sym typeface="Trebuchet MS"/>
              </a:rPr>
              <a:t>Big Data Pipeline: Amazon Sale Report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3200400" y="2743200"/>
            <a:ext cx="2743200" cy="36576"/>
          </a:xfrm>
          <a:prstGeom prst="rect">
            <a:avLst/>
          </a:prstGeom>
          <a:solidFill>
            <a:srgbClr val="6B8BB5"/>
          </a:solidFill>
          <a:ln cap="flat" cmpd="sng" w="12700">
            <a:solidFill>
              <a:srgbClr val="6B8B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4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C9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EA5C9"/>
                </a:solidFill>
                <a:latin typeface="Calibri"/>
                <a:ea typeface="Calibri"/>
                <a:cs typeface="Calibri"/>
                <a:sym typeface="Calibri"/>
              </a:rPr>
              <a:t>PERTANYAAN &amp; DISKUSI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4"/>
          <p:cNvSpPr/>
          <p:nvPr/>
        </p:nvSpPr>
        <p:spPr>
          <a:xfrm>
            <a:off x="1097280" y="3703320"/>
            <a:ext cx="1280160" cy="347472"/>
          </a:xfrm>
          <a:prstGeom prst="roundRect">
            <a:avLst>
              <a:gd fmla="val 13158" name="adj"/>
            </a:avLst>
          </a:prstGeom>
          <a:solidFill>
            <a:srgbClr val="122D55"/>
          </a:solidFill>
          <a:ln cap="flat" cmpd="sng" w="12700">
            <a:solidFill>
              <a:srgbClr val="0EA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4"/>
          <p:cNvSpPr/>
          <p:nvPr/>
        </p:nvSpPr>
        <p:spPr>
          <a:xfrm>
            <a:off x="1097280" y="370332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PySpark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2514600" y="3703320"/>
            <a:ext cx="1280160" cy="347472"/>
          </a:xfrm>
          <a:prstGeom prst="roundRect">
            <a:avLst>
              <a:gd fmla="val 13158" name="adj"/>
            </a:avLst>
          </a:prstGeom>
          <a:solidFill>
            <a:srgbClr val="122D55"/>
          </a:solidFill>
          <a:ln cap="flat" cmpd="sng" w="12700">
            <a:solidFill>
              <a:srgbClr val="0EA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4"/>
          <p:cNvSpPr/>
          <p:nvPr/>
        </p:nvSpPr>
        <p:spPr>
          <a:xfrm>
            <a:off x="2514600" y="370332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MySQL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4"/>
          <p:cNvSpPr/>
          <p:nvPr/>
        </p:nvSpPr>
        <p:spPr>
          <a:xfrm>
            <a:off x="3931920" y="3703320"/>
            <a:ext cx="1280160" cy="347472"/>
          </a:xfrm>
          <a:prstGeom prst="roundRect">
            <a:avLst>
              <a:gd fmla="val 13158" name="adj"/>
            </a:avLst>
          </a:prstGeom>
          <a:solidFill>
            <a:srgbClr val="122D55"/>
          </a:solidFill>
          <a:ln cap="flat" cmpd="sng" w="12700">
            <a:solidFill>
              <a:srgbClr val="0EA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4"/>
          <p:cNvSpPr/>
          <p:nvPr/>
        </p:nvSpPr>
        <p:spPr>
          <a:xfrm>
            <a:off x="3931920" y="370332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MongoDB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4"/>
          <p:cNvSpPr/>
          <p:nvPr/>
        </p:nvSpPr>
        <p:spPr>
          <a:xfrm>
            <a:off x="5349240" y="3703320"/>
            <a:ext cx="1280160" cy="347472"/>
          </a:xfrm>
          <a:prstGeom prst="roundRect">
            <a:avLst>
              <a:gd fmla="val 13158" name="adj"/>
            </a:avLst>
          </a:prstGeom>
          <a:solidFill>
            <a:srgbClr val="122D55"/>
          </a:solidFill>
          <a:ln cap="flat" cmpd="sng" w="12700">
            <a:solidFill>
              <a:srgbClr val="0EA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4"/>
          <p:cNvSpPr/>
          <p:nvPr/>
        </p:nvSpPr>
        <p:spPr>
          <a:xfrm>
            <a:off x="5349240" y="370332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Streamlit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4"/>
          <p:cNvSpPr/>
          <p:nvPr/>
        </p:nvSpPr>
        <p:spPr>
          <a:xfrm>
            <a:off x="6766560" y="3703320"/>
            <a:ext cx="1280160" cy="347472"/>
          </a:xfrm>
          <a:prstGeom prst="roundRect">
            <a:avLst>
              <a:gd fmla="val 13158" name="adj"/>
            </a:avLst>
          </a:prstGeom>
          <a:solidFill>
            <a:srgbClr val="122D55"/>
          </a:solidFill>
          <a:ln cap="flat" cmpd="sng" w="12700">
            <a:solidFill>
              <a:srgbClr val="0EA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4"/>
          <p:cNvSpPr/>
          <p:nvPr/>
        </p:nvSpPr>
        <p:spPr>
          <a:xfrm>
            <a:off x="6766560" y="370332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Plotly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4"/>
          <p:cNvSpPr/>
          <p:nvPr/>
        </p:nvSpPr>
        <p:spPr>
          <a:xfrm>
            <a:off x="914400" y="42519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BB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8BB5"/>
                </a:solidFill>
                <a:latin typeface="Calibri"/>
                <a:ea typeface="Calibri"/>
                <a:cs typeface="Calibri"/>
                <a:sym typeface="Calibri"/>
              </a:rPr>
              <a:t>Kelompok 3 · 2025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2026-05-28T09:32:53Z</dcterms:created>
  <dc:creator>PptxGenJS</dc:creator>
</cp:coreProperties>
</file>